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Edge ML on an ESP32 classifies potholes vs speed humps; AWS IoT Core + Lambda + DynamoDB + API Gateway put them on a public map. Everything shown was deployed and verified on 2026-10-22.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candidates: decision trees, random forests, extra-trees. Selection = smallest model within 0.01 of the best macro-F1 under session-grouped CV (no session in both train and test). 1625 events, 58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B6834"/>
                </a:solidFill>
                <a:latin typeface="Calibri"/>
              </a:rPr>
              <a:t>CLOUD COMPUTING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Pothole Detection with Edge ML
and an AWS IoT GIS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3C6CC"/>
                </a:solidFill>
                <a:latin typeface="Calibri"/>
              </a:rPr>
              <a:t>ESP32 + accelerometer + GPS classify road events on the device and publish them over
MQTT to AWS IoT Core; a serverless backend turns them into a live crowd-sourced 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B6834"/>
                </a:solidFill>
                <a:latin typeface="Calibri"/>
              </a:rPr>
              <a:t>0.88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59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3C6CC"/>
                </a:solidFill>
                <a:latin typeface="Calibri"/>
              </a:rPr>
              <a:t>macro-F1, on-device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84632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B6834"/>
                </a:solidFill>
                <a:latin typeface="Calibri"/>
              </a:rPr>
              <a:t>17 KB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5623559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3C6CC"/>
                </a:solidFill>
                <a:latin typeface="Calibri"/>
              </a:rPr>
              <a:t>random forest in flash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84632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B6834"/>
                </a:solidFill>
                <a:latin typeface="Calibri"/>
              </a:rPr>
              <a:t>≈2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623559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3C6CC"/>
                </a:solidFill>
                <a:latin typeface="Calibri"/>
              </a:rPr>
              <a:t>pothole →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484632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B6834"/>
                </a:solidFill>
                <a:latin typeface="Calibri"/>
              </a:rP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5623559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3C6CC"/>
                </a:solidFill>
                <a:latin typeface="Calibri"/>
              </a:rPr>
              <a:t>AWS Free Tier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PROBLEM &amp;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1B1B"/>
                </a:solidFill>
                <a:latin typeface="Calibri"/>
              </a:rPr>
              <a:t>Potholes are found late — from complaints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Pothole detection · edge ML + AWS IoT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9339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1B1B"/>
                </a:solidFill>
                <a:latin typeface="Calibri"/>
              </a:rPr>
              <a:t>Detect automatically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1460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</a:rPr>
              <a:t>while driving, with cheap hardware mounted in any vehicle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99339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1B1B"/>
                </a:solidFill>
                <a:latin typeface="Calibri"/>
              </a:rPr>
              <a:t>Pothole vs. speed hump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51460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</a:rPr>
              <a:t>both are big vertical jolts — tell them apart reliably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23367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1B1B"/>
                </a:solidFill>
                <a:latin typeface="Calibri"/>
              </a:rPr>
              <a:t>Map it, crowd-sourced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75488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</a:rPr>
              <a:t>every report gets a GPS position; repeat reports raise confidence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8620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425196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23367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1B1B"/>
                </a:solidFill>
                <a:latin typeface="Calibri"/>
              </a:rPr>
              <a:t>Edge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75488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</a:rPr>
              <a:t>classify on the device, send ~350 bytes per event instead of raw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1B1B"/>
                </a:solidFill>
                <a:latin typeface="Calibri"/>
              </a:rPr>
              <a:t>Edge classification, serverless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Pothole detection · edge ML + AWS IoT</a:t>
            </a:r>
          </a:p>
        </p:txBody>
      </p:sp>
      <p:pic>
        <p:nvPicPr>
          <p:cNvPr id="6" name="Picture 5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64240" cy="413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2514E"/>
                </a:solidFill>
                <a:latin typeface="Calibri"/>
              </a:rPr>
              <a:t>Only events leave the car: </a:t>
            </a:r>
            <a:r>
              <a:rPr sz="1500" b="0" i="0">
                <a:solidFill>
                  <a:srgbClr val="52514E"/>
                </a:solidFill>
                <a:latin typeface="Calibri"/>
              </a:rPr>
              <a:t>raw 100 Hz × 3-axis data would be ~1 KB/s per vehicle; one classified event is ~350 bytes over MQTT/TLS.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DEVICE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1B1B"/>
                </a:solidFill>
                <a:latin typeface="Calibri"/>
              </a:rPr>
              <a:t>Hardware and firmware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Pothole detection · edge ML + AWS IoT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1B1B"/>
                </a:solidFill>
                <a:latin typeface="Calibri"/>
              </a:rPr>
              <a:t>ESP32 DevKit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</a:rPr>
              <a:t>2 × 240 MHz, Wi-Fi
ESP-IDF v6.1 + FreeRTOS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55448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1737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1B1B"/>
                </a:solidFill>
                <a:latin typeface="Calibri"/>
              </a:rPr>
              <a:t>MPU-6050 / ADXL345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2402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</a:rPr>
              <a:t>accelerometer, ±8 g @ 100 Hz
I2C · auto-detected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55448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1B1B"/>
                </a:solidFill>
                <a:latin typeface="Calibri"/>
              </a:rPr>
              <a:t>u-blox NEO-7M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402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</a:rPr>
              <a:t>GPS 5 Hz (UBX config)
UART2 · NMEA 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5669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B1B1B"/>
                </a:solidFill>
                <a:latin typeface="Calibri"/>
              </a:rPr>
              <a:t>Sensor task </a:t>
            </a:r>
            <a:r>
              <a:rPr sz="1500" b="0">
                <a:solidFill>
                  <a:srgbClr val="1B1B1B"/>
                </a:solidFill>
                <a:latin typeface="Calibri"/>
              </a:rPr>
              <a:t>on core 1 at high priority; detection never waits for Wi-Fi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B1B1B"/>
                </a:solidFill>
                <a:latin typeface="Calibri"/>
              </a:rPr>
              <a:t>GPS captured at the trigger</a:t>
            </a:r>
            <a:r>
              <a:rPr sz="1500" b="0">
                <a:solidFill>
                  <a:srgbClr val="1B1B1B"/>
                </a:solidFill>
                <a:latin typeface="Calibri"/>
              </a:rPr>
              <a:t> — the pin is where the wheel hit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B1B1B"/>
                </a:solidFill>
                <a:latin typeface="Calibri"/>
              </a:rPr>
              <a:t>32-event offline queue</a:t>
            </a:r>
            <a:r>
              <a:rPr sz="1500" b="0">
                <a:solidFill>
                  <a:srgbClr val="1B1B1B"/>
                </a:solidFill>
                <a:latin typeface="Calibri"/>
              </a:rPr>
              <a:t>; sent after reconnect, QoS 1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B1B1B"/>
                </a:solidFill>
                <a:latin typeface="Calibri"/>
              </a:rPr>
              <a:t>Only POTHOLE / SPEED_HUMP ≥ 60 %</a:t>
            </a:r>
            <a:r>
              <a:rPr sz="1500" b="0">
                <a:solidFill>
                  <a:srgbClr val="1B1B1B"/>
                </a:solidFill>
                <a:latin typeface="Calibri"/>
              </a:rPr>
              <a:t> are published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520440"/>
            <a:ext cx="5120640" cy="2103120"/>
          </a:xfrm>
          <a:prstGeom prst="roundRect">
            <a:avLst>
              <a:gd name="adj" fmla="val 8000"/>
            </a:avLst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657600"/>
            <a:ext cx="46634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topic pothole/alerts  (QoS 1)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{"device_id":"pothole-6acecc",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 "event":"POTHOLE","confidence":0.75,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 "severity_g":0.98,"lat":…,"lon":…,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 "gps":{"fix":true,"sats":7,"hdop":2.4},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 "utc":"2026-10-21T21:38:06.800Z",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 "model":"forest_n10_d8"}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MACHINE LEARNING ·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1B1B"/>
                </a:solidFill>
                <a:latin typeface="Calibri"/>
              </a:rPr>
              <a:t>Shape, not statistics, separates the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Pothole detection · edge ML + AWS IoT</a:t>
            </a:r>
          </a:p>
        </p:txBody>
      </p:sp>
      <p:pic>
        <p:nvPicPr>
          <p:cNvPr id="6" name="Picture 5" descr="fig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949440" cy="26667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600200"/>
            <a:ext cx="3840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B1B1B"/>
                </a:solidFill>
                <a:latin typeface="Calibri"/>
              </a:rPr>
              <a:t>Gravity tracking</a:t>
            </a:r>
            <a:r>
              <a:rPr sz="1500" b="0">
                <a:solidFill>
                  <a:srgbClr val="1B1B1B"/>
                </a:solidFill>
                <a:latin typeface="Calibri"/>
              </a:rPr>
              <a:t> → works at any mounting angle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B1B1B"/>
                </a:solidFill>
                <a:latin typeface="Calibri"/>
              </a:rPr>
              <a:t>Trigger at |v| &gt; 0.25 g</a:t>
            </a:r>
            <a:r>
              <a:rPr sz="1500" b="0">
                <a:solidFill>
                  <a:srgbClr val="1B1B1B"/>
                </a:solidFill>
                <a:latin typeface="Calibri"/>
              </a:rPr>
              <a:t>; window 0.5 s before + 1 s after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B1B1B"/>
                </a:solidFill>
                <a:latin typeface="Calibri"/>
              </a:rPr>
              <a:t>Flat road never triggers</a:t>
            </a:r>
            <a:r>
              <a:rPr sz="1500" b="0">
                <a:solidFill>
                  <a:srgbClr val="1B1B1B"/>
                </a:solidFill>
                <a:latin typeface="Calibri"/>
              </a:rPr>
              <a:t> → no false positives, ~0 CPU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B1B1B"/>
                </a:solidFill>
                <a:latin typeface="Calibri"/>
              </a:rPr>
              <a:t>20 features</a:t>
            </a:r>
            <a:r>
              <a:rPr sz="1500" b="0">
                <a:solidFill>
                  <a:srgbClr val="1B1B1B"/>
                </a:solidFill>
                <a:latin typeface="Calibri"/>
              </a:rPr>
              <a:t>: size, order of peaks, duration, jerk, roll, roughness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B1B1B"/>
                </a:solidFill>
                <a:latin typeface="Calibri"/>
              </a:rPr>
              <a:t>Same C code</a:t>
            </a:r>
            <a:r>
              <a:rPr sz="1500" b="0">
                <a:solidFill>
                  <a:srgbClr val="1B1B1B"/>
                </a:solidFill>
                <a:latin typeface="Calibri"/>
              </a:rPr>
              <a:t> in firmware and in the Python trainer (ctypes)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6949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B1B"/>
                </a:solidFill>
                <a:latin typeface="Calibri"/>
              </a:rPr>
              <a:t>Drop first = pothole, lift first = hump. </a:t>
            </a:r>
            <a:r>
              <a:rPr sz="1500" b="0" i="0">
                <a:solidFill>
                  <a:srgbClr val="52514E"/>
                </a:solidFill>
                <a:latin typeface="Calibri"/>
              </a:rPr>
              <a:t>The v1 pipeline used per-axis min/max/mean and learnt the mounting angle: macro-F1 0.20–0.28. The shape features reach 0.92 on the same simulated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MACHINE LEARNING ·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1B1B"/>
                </a:solidFill>
                <a:latin typeface="Calibri"/>
              </a:rPr>
              <a:t>Near-best accuracy at a third of the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Pothole detection · edge ML + AWS IoT</a:t>
            </a:r>
          </a:p>
        </p:txBody>
      </p:sp>
      <p:pic>
        <p:nvPicPr>
          <p:cNvPr id="6" name="Picture 5" descr="fig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420194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5544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B6834"/>
                </a:solidFill>
                <a:latin typeface="Calibri"/>
              </a:rPr>
              <a:t>0.877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331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macro-F1, 5-fold session-grouped 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30175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B6834"/>
                </a:solidFill>
                <a:latin typeface="Calibri"/>
              </a:rPr>
              <a:t>1 452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794759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nodes · ~17 KB flash, uint8 leaves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4805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A78D6"/>
                </a:solidFill>
                <a:latin typeface="Calibri"/>
              </a:rPr>
              <a:t>100 %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52578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C export agrees with scikit-learn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MACHINE LEARNING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1B1B"/>
                </a:solidFill>
                <a:latin typeface="Calibri"/>
              </a:rPr>
              <a:t>Balanced accuracy across all three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7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Pothole detection · edge ML + AWS IoT</a:t>
            </a:r>
          </a:p>
        </p:txBody>
      </p:sp>
      <p:pic>
        <p:nvPicPr>
          <p:cNvPr id="6" name="Picture 5" descr="fig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4719454" cy="4206240"/>
          </a:xfrm>
          <a:prstGeom prst="rect">
            <a:avLst/>
          </a:prstGeom>
        </p:spPr>
      </p:pic>
      <p:pic>
        <p:nvPicPr>
          <p:cNvPr id="7" name="Picture 6" descr="fig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463040"/>
            <a:ext cx="5760720" cy="31864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4709160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B1B"/>
                </a:solidFill>
                <a:latin typeface="Calibri"/>
              </a:rPr>
              <a:t>Held-out real motions, never seen in any form: </a:t>
            </a:r>
            <a:r>
              <a:rPr sz="1500" b="0" i="0">
                <a:solidFill>
                  <a:srgbClr val="52514E"/>
                </a:solidFill>
                <a:latin typeface="Calibri"/>
              </a:rPr>
              <a:t>91 % of drop-then-lift → pothole, 80 % of lift-then-down → speed hump. Training data: car simulator + augmented desk recordings — not yet road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1B1B"/>
                </a:solidFill>
                <a:latin typeface="Calibri"/>
              </a:rPr>
              <a:t>Six AWS services, one SAM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Pothole detection · edge ML + AWS IoT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90195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B1B1B"/>
                </a:solidFill>
                <a:latin typeface="Calibri"/>
              </a:rPr>
              <a:t>IoT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146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MQTT broker · X.509 cert per device · publish-only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0020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1999" y="1874519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59" y="190195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B1B1B"/>
                </a:solidFill>
                <a:latin typeface="Calibri"/>
              </a:rPr>
              <a:t>IoT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146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SELECT *, timestamp(), clientid() → Lambda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60020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1874519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399" y="190195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B1B1B"/>
                </a:solidFill>
                <a:latin typeface="Calibri"/>
              </a:rPr>
              <a:t>Lambda ×2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146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Python 3.12 arm64 · ingest + map/GeoJSON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14223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B1B1B"/>
                </a:solidFill>
                <a:latin typeface="Calibri"/>
              </a:rPr>
              <a:t>DynamoDB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75488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on-demand single table · raw reports (90-day TTL) + map cells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84048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1999" y="411480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414223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B1B1B"/>
                </a:solidFill>
                <a:latin typeface="Calibri"/>
              </a:rPr>
              <a:t>API Gateway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475488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HTTP API · GET /  and  GET /potholes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384048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21040" y="411480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399" y="414223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B1B1B"/>
                </a:solidFill>
                <a:latin typeface="Calibri"/>
              </a:rPr>
              <a:t>SAM / CloudFormation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75488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stack pothole-map · deploy, update, delete in one command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Also: S3 (deploy artefacts), CloudWatch Logs (mapped / skipped per message), IAM roles (least privilege) · region ap-south-1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GIS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1B1B"/>
                </a:solidFill>
                <a:latin typeface="Calibri"/>
              </a:rPr>
              <a:t>Many reports, one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Pothole detection · edge ML + AWS IoT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1B1B"/>
                </a:solidFill>
                <a:latin typeface="Calibri"/>
              </a:rPr>
              <a:t>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</a:rPr>
              <a:t>event is POTHOLE or SPEED_HUMP, GPS fix, HDOP ≤ 5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234440" y="1828800"/>
            <a:ext cx="1920240" cy="228600"/>
          </a:xfrm>
          <a:prstGeom prst="rightArrow">
            <a:avLst/>
          </a:prstGeom>
          <a:solidFill>
            <a:srgbClr val="D9D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3280" y="169164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77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1B1B"/>
                </a:solidFill>
                <a:latin typeface="Calibri"/>
              </a:rPr>
              <a:t>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3464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</a:rPr>
              <a:t>raw report kept 90 days, with the reason if skipped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69080" y="1828800"/>
            <a:ext cx="1920240" cy="228600"/>
          </a:xfrm>
          <a:prstGeom prst="rightArrow">
            <a:avLst/>
          </a:prstGeom>
          <a:solidFill>
            <a:srgbClr val="D9D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17920" y="169164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77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1B1B"/>
                </a:solidFill>
                <a:latin typeface="Calibri"/>
              </a:rPr>
              <a:t>Aggregate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83464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</a:rPr>
              <a:t>atomic ADD into a geohash-8 cell (~38 × 19 m)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03720" y="1828800"/>
            <a:ext cx="1920240" cy="228600"/>
          </a:xfrm>
          <a:prstGeom prst="rightArrow">
            <a:avLst/>
          </a:prstGeom>
          <a:solidFill>
            <a:srgbClr val="D9D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52560" y="169164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77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1B1B"/>
                </a:solidFill>
                <a:latin typeface="Calibri"/>
              </a:rPr>
              <a:t>Merge &amp; 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83464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</a:rPr>
              <a:t>cells within 15 m merge; GeoJSON + Leaflet/OSM 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6052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34340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B1B"/>
                </a:solidFill>
                <a:latin typeface="Calibri"/>
              </a:rPr>
              <a:t>Report count = confidence. </a:t>
            </a:r>
            <a:r>
              <a:rPr sz="1500" b="0" i="0">
                <a:solidFill>
                  <a:srgbClr val="52514E"/>
                </a:solidFill>
                <a:latin typeface="Calibri"/>
              </a:rPr>
              <a:t>A pothole confirmed by several vehicles grows into a bigger marker; a one-off false alarm stays small and can be filtered with ?min_reports=2.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3434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B1B"/>
                </a:solidFill>
                <a:latin typeface="Calibri"/>
              </a:rPr>
              <a:t>Open GIS formats. </a:t>
            </a:r>
            <a:r>
              <a:rPr sz="1500" b="0" i="0">
                <a:solidFill>
                  <a:srgbClr val="52514E"/>
                </a:solidFill>
                <a:latin typeface="Calibri"/>
              </a:rPr>
              <a:t>GET /potholes returns a GeoJSON FeatureCollection that loads directly into QGIS, kepler.gl or Google My Maps.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1B1B"/>
                </a:solidFill>
                <a:latin typeface="Calibri"/>
              </a:rPr>
              <a:t>Verified end-to-end on the real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10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Pothole detection · edge ML + AWS IoT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45920"/>
                <a:gridCol w="914400"/>
                <a:gridCol w="1188720"/>
                <a:gridCol w="2011680"/>
              </a:tblGrid>
              <a:tr h="50945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UTC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Conf.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GPS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21:34:14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SPEED_HUMP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0.79 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7 sats · HDOP 2.4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21:37:43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SPEED_HUMP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0.89 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8 sats · HDOP 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21:38:06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B6834"/>
                          </a:solidFill>
                          <a:latin typeface="Calibri"/>
                        </a:rPr>
                        <a:t>POTHOLE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0.98 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7 sats · HDOP 2.4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21:40:07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SPEED_HUMP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0.99 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21:40:34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B6834"/>
                          </a:solidFill>
                          <a:latin typeface="Calibri"/>
                        </a:rPr>
                        <a:t>POTHOLE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0.66 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21:41:09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B6834"/>
                          </a:solidFill>
                          <a:latin typeface="Calibri"/>
                        </a:rPr>
                        <a:t>POTHOLE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0.80 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15544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B6834"/>
                </a:solidFill>
                <a:latin typeface="Calibri"/>
              </a:rPr>
              <a:t>6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331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device reports stored and mapped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9718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B6834"/>
                </a:solidFill>
                <a:latin typeface="Calibri"/>
              </a:rPr>
              <a:t>3 →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749039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potholes merged into one pin, reports: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38912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A78D6"/>
                </a:solidFill>
                <a:latin typeface="Calibri"/>
              </a:rPr>
              <a:t>≈ 2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5166359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trigger → DynamoDB (1 s window + MQTT + Lambda)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4924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Also verified: offline Lambda tests, sam validate --lint, synthetic publish via the AWS CLI, HTTP 200 on the map.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1B1B"/>
                </a:solidFill>
                <a:latin typeface="Calibri"/>
              </a:rPr>
              <a:t>Tools and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Pothole detection · edge ML + AWS IoT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606040" cy="3749039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B6834"/>
                </a:solidFill>
                <a:latin typeface="Calibri"/>
              </a:rPr>
              <a:t>Embedded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21945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B1B"/>
                </a:solidFill>
                <a:latin typeface="Calibri"/>
              </a:rPr>
              <a:t>ESP-IDF v6.1, FreeRTOS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B1B"/>
                </a:solidFill>
                <a:latin typeface="Calibri"/>
              </a:rPr>
              <a:t>esp-mqtt, mbedTLS (TLS 1.2)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B1B"/>
                </a:solidFill>
                <a:latin typeface="Calibri"/>
              </a:rPr>
              <a:t>xtensa GCC 15, esptool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B1B"/>
                </a:solidFill>
                <a:latin typeface="Calibri"/>
              </a:rPr>
              <a:t>C99 shared detector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600200"/>
            <a:ext cx="2606040" cy="3749039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7830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A78D6"/>
                </a:solidFill>
                <a:latin typeface="Calibri"/>
              </a:rPr>
              <a:t>ML &amp;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377440"/>
            <a:ext cx="21945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B1B"/>
                </a:solidFill>
                <a:latin typeface="Calibri"/>
              </a:rPr>
              <a:t>Python, NumPy, pandas, SciPy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B1B"/>
                </a:solidFill>
                <a:latin typeface="Calibri"/>
              </a:rPr>
              <a:t>scikit-learn (trees, forests)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B1B"/>
                </a:solidFill>
                <a:latin typeface="Calibri"/>
              </a:rPr>
              <a:t>ctypes bridge to firmware C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B1B"/>
                </a:solidFill>
                <a:latin typeface="Calibri"/>
              </a:rPr>
              <a:t>pyserial, matplotlib, pytest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00200"/>
            <a:ext cx="2606040" cy="3749039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7830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B6834"/>
                </a:solidFill>
                <a:latin typeface="Calibri"/>
              </a:rPr>
              <a:t>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377440"/>
            <a:ext cx="21945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B1B"/>
                </a:solidFill>
                <a:latin typeface="Calibri"/>
              </a:rPr>
              <a:t>AWS IoT Core, Lambda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B1B"/>
                </a:solidFill>
                <a:latin typeface="Calibri"/>
              </a:rPr>
              <a:t>DynamoDB, API Gateway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B1B"/>
                </a:solidFill>
                <a:latin typeface="Calibri"/>
              </a:rPr>
              <a:t>CloudFormation, S3, CloudWatch, IAM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B1B"/>
                </a:solidFill>
                <a:latin typeface="Calibri"/>
              </a:rPr>
              <a:t>AWS CLI, SAM CLI, boto3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696" y="1600200"/>
            <a:ext cx="2606040" cy="3749039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6296" y="17830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A78D6"/>
                </a:solidFill>
                <a:latin typeface="Calibri"/>
              </a:rPr>
              <a:t>GIS &amp; 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6296" y="2377440"/>
            <a:ext cx="21945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B1B"/>
                </a:solidFill>
                <a:latin typeface="Calibri"/>
              </a:rPr>
              <a:t>Leaflet 1.9 + OpenStreetMap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B1B"/>
                </a:solidFill>
                <a:latin typeface="Calibri"/>
              </a:rPr>
              <a:t>GeoJSON, geohash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B1B"/>
                </a:solidFill>
                <a:latin typeface="Calibri"/>
              </a:rPr>
              <a:t>QGIS / kepler.gl compatible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B1B"/>
                </a:solidFill>
                <a:latin typeface="Calibri"/>
              </a:rPr>
              <a:t>Git/GitHub, Markdown + Mermaid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ENGINEERING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1B1B"/>
                </a:solidFill>
                <a:latin typeface="Calibri"/>
              </a:rPr>
              <a:t>What broke, and how it was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Pothole detection · edge ML + AWS IoT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B1B"/>
                </a:solidFill>
                <a:latin typeface="Calibri"/>
              </a:rPr>
              <a:t>Labels didn't match the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7627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v1 recorder read stale serial data → event-aligned windows, guided collection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54480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B1B"/>
                </a:solidFill>
                <a:latin typeface="Calibri"/>
              </a:rPr>
              <a:t>MPU-6050 FIFO desync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7627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random ±8 g sessions → read each sample on DATA_RDY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90672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27355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B1B"/>
                </a:solidFill>
                <a:latin typeface="Calibri"/>
              </a:rPr>
              <a:t>False humps at 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712463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0 g first sample after reset → fast gravity convergence at warm-up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090672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27355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B1B"/>
                </a:solidFill>
                <a:latin typeface="Calibri"/>
              </a:rPr>
              <a:t>Pothole never predicted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12463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35 % of hump labels were failed attempts → shape-filtered, mirrored humps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26864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809744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B1B"/>
                </a:solidFill>
                <a:latin typeface="Calibri"/>
              </a:rPr>
              <a:t>Board on a foreign AWS account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248655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new thing/cert/policy via provision_device.sh, reflashed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626864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809744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B1B"/>
                </a:solidFill>
                <a:latin typeface="Calibri"/>
              </a:rPr>
              <a:t>Potholes hidden on the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248655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hump marker drawn on top → potholes rendered last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B6834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Sensor to map works today; the model now needs real roads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5303520" cy="2514600"/>
          </a:xfrm>
          <a:prstGeom prst="roundRect">
            <a:avLst>
              <a:gd name="adj" fmla="val 8000"/>
            </a:avLst>
          </a:prstGeom>
          <a:solidFill>
            <a:srgbClr val="2C3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108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B6834"/>
                </a:solidFill>
                <a:latin typeface="Calibri"/>
              </a:rPr>
              <a:t>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703320"/>
            <a:ext cx="47548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On-device pothole / hump classification (17 KB)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Secure MQTT to AWS IoT Core with X.509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Serverless ingest, storage, GeoJSON API, live map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Crowd aggregation: repeat reports → one pin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2926080"/>
            <a:ext cx="5303520" cy="2514600"/>
          </a:xfrm>
          <a:prstGeom prst="roundRect">
            <a:avLst>
              <a:gd name="adj" fmla="val 8000"/>
            </a:avLst>
          </a:prstGeom>
          <a:solidFill>
            <a:srgbClr val="2C3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399" y="3108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A78D6"/>
                </a:solidFill>
                <a:latin typeface="Calibri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399" y="3703320"/>
            <a:ext cx="47548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Record real drives, retrain on road data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Mark-as-fixed + ageing of old reports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OTA model updates via device shadow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IAM user instead of root key; narrower IoT policy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